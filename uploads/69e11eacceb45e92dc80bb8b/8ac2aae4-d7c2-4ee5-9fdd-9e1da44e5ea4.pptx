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9"/>
  </p:notesMasterIdLst>
  <p:handoutMasterIdLst>
    <p:handoutMasterId r:id="rId10"/>
  </p:handoutMasterIdLst>
  <p:sldIdLst>
    <p:sldId id="256" r:id="rId2"/>
    <p:sldId id="257" r:id="rId3"/>
    <p:sldId id="265" r:id="rId4"/>
    <p:sldId id="260" r:id="rId5"/>
    <p:sldId id="258" r:id="rId6"/>
    <p:sldId id="266" r:id="rId7"/>
    <p:sldId id="267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71E42"/>
    <a:srgbClr val="E2DED9"/>
    <a:srgbClr val="FDFDFD"/>
    <a:srgbClr val="DEDB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C2FFA5D-87B4-456A-9821-1D502468CF0F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D81DDF-98D4-498E-A94D-DDD7A807AD4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91BFCE-55A1-4C09-B4B5-9359AD6F4DF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E4FA28-26D5-4BDF-9A75-C27596ADE055}" type="datetimeFigureOut">
              <a:rPr lang="en-US" smtClean="0"/>
              <a:t>2/2/2026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EEB1F3-97EE-4F0D-B402-E34820EC684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54877F-A04A-4D6A-A0A8-95CC6E2D2A3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507CFE-5866-4B40-8953-42375E9B5DB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2507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FE1D6F-8584-4A53-833D-DCA47225B220}" type="datetimeFigureOut">
              <a:rPr lang="en-US" smtClean="0"/>
              <a:t>2/2/2026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F3874D-A20A-4B3E-9C12-F524953D5B7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530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77464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77464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913821" y="6370429"/>
            <a:ext cx="3500715" cy="309201"/>
          </a:xfrm>
        </p:spPr>
        <p:txBody>
          <a:bodyPr/>
          <a:lstStyle/>
          <a:p>
            <a:fld id="{2D202488-4139-4052-B998-251C9C912739}" type="datetimeFigureOut">
              <a:rPr lang="en-US" noProof="0" smtClean="0"/>
              <a:t>2/2/2026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77464" y="6370430"/>
            <a:ext cx="4973915" cy="309201"/>
          </a:xfrm>
        </p:spPr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777464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6400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2/2/2026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33" name="Straight Connector 32"/>
          <p:cNvCxnSpPr/>
          <p:nvPr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" name="Title 5">
            <a:extLst>
              <a:ext uri="{FF2B5EF4-FFF2-40B4-BE49-F238E27FC236}">
                <a16:creationId xmlns:a16="http://schemas.microsoft.com/office/drawing/2014/main" id="{C414FF1F-6558-4E39-87DB-276E44F54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6888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4423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0777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2/2/2026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780777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0136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2239" y="2161853"/>
            <a:ext cx="4645152" cy="344859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58679" y="2168318"/>
            <a:ext cx="4645152" cy="344152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2/2/2026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715607D-9DE2-4687-AAF8-EF2427252A90}"/>
              </a:ext>
            </a:extLst>
          </p:cNvPr>
          <p:cNvCxnSpPr/>
          <p:nvPr userDrawn="1"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2F96D46B-C1B8-46AB-87DF-61A8058B1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7750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7315" y="1950795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87315" y="2755515"/>
            <a:ext cx="4645152" cy="264445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52486" y="1954249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52486" y="2752737"/>
            <a:ext cx="4645152" cy="2637371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2/2/2026</a:t>
            </a:fld>
            <a:endParaRPr lang="en-U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384AA55-1960-47F4-BA3C-E97A6F2D0B19}"/>
              </a:ext>
            </a:extLst>
          </p:cNvPr>
          <p:cNvCxnSpPr/>
          <p:nvPr userDrawn="1"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" name="Title 8">
            <a:extLst>
              <a:ext uri="{FF2B5EF4-FFF2-40B4-BE49-F238E27FC236}">
                <a16:creationId xmlns:a16="http://schemas.microsoft.com/office/drawing/2014/main" id="{09471694-1220-4CFC-A31F-622E5D3DE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81749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2/2/2026</a:t>
            </a:fld>
            <a:endParaRPr lang="en-U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B55B52-B62C-4800-AAC1-B15AF2FE1F45}"/>
              </a:ext>
            </a:extLst>
          </p:cNvPr>
          <p:cNvCxnSpPr/>
          <p:nvPr userDrawn="1"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" name="Title 4">
            <a:extLst>
              <a:ext uri="{FF2B5EF4-FFF2-40B4-BE49-F238E27FC236}">
                <a16:creationId xmlns:a16="http://schemas.microsoft.com/office/drawing/2014/main" id="{3DF0054B-B64C-418E-A1B8-428EE4A1D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53955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2/2/2026</a:t>
            </a:fld>
            <a:endParaRPr lang="en-U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B55B52-B62C-4800-AAC1-B15AF2FE1F45}"/>
              </a:ext>
            </a:extLst>
          </p:cNvPr>
          <p:cNvCxnSpPr/>
          <p:nvPr userDrawn="1"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" name="Title 4">
            <a:extLst>
              <a:ext uri="{FF2B5EF4-FFF2-40B4-BE49-F238E27FC236}">
                <a16:creationId xmlns:a16="http://schemas.microsoft.com/office/drawing/2014/main" id="{3DF0054B-B64C-418E-A1B8-428EE4A1D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5A680F6-C147-410B-94DF-19850752D7D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694656" y="1865037"/>
            <a:ext cx="8802688" cy="3127927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/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10242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2/2/2026</a:t>
            </a:fld>
            <a:endParaRPr lang="en-US" noProof="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 </a:t>
            </a:r>
          </a:p>
        </p:txBody>
      </p:sp>
    </p:spTree>
    <p:extLst>
      <p:ext uri="{BB962C8B-B14F-4D97-AF65-F5344CB8AC3E}">
        <p14:creationId xmlns:p14="http://schemas.microsoft.com/office/powerpoint/2010/main" val="3771245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95246" y="1645522"/>
            <a:ext cx="5807176" cy="3840852"/>
          </a:xfrm>
        </p:spPr>
        <p:txBody>
          <a:bodyPr anchor="ctr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0909" y="1645522"/>
            <a:ext cx="3600000" cy="3836725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2/2/2026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CC09F73-0AD6-4A1E-A331-75A00B808982}"/>
              </a:ext>
            </a:extLst>
          </p:cNvPr>
          <p:cNvCxnSpPr/>
          <p:nvPr userDrawn="1"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1B74F78C-6D32-47C3-ABB2-6E7092A9C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81653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Gallery 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00394" y="3128470"/>
            <a:ext cx="3024000" cy="1906565"/>
          </a:xfrm>
        </p:spPr>
        <p:txBody>
          <a:bodyPr anchor="ctr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73638" y="5144980"/>
            <a:ext cx="3036438" cy="807405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2/2/2026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CC09F73-0AD6-4A1E-A331-75A00B808982}"/>
              </a:ext>
            </a:extLst>
          </p:cNvPr>
          <p:cNvCxnSpPr/>
          <p:nvPr userDrawn="1"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DE9A20D-024F-4A17-9B20-526AA4037253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02108" y="3128470"/>
            <a:ext cx="3024000" cy="1906565"/>
          </a:xfrm>
        </p:spPr>
        <p:txBody>
          <a:bodyPr anchor="ctr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7D8F60F-F9DD-4AAC-BF28-C004CCDF2D6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873638" y="3128470"/>
            <a:ext cx="3024000" cy="1906565"/>
          </a:xfrm>
        </p:spPr>
        <p:txBody>
          <a:bodyPr anchor="ctr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8F09FDD8-5B1C-4AAA-8EEC-0A77C9E477D1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4595889" y="5144979"/>
            <a:ext cx="3036438" cy="807405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E6DF0B7E-E17E-4875-966D-4DE67F755B71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1306587" y="5144978"/>
            <a:ext cx="3036438" cy="807405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685D963-B130-47E9-AFCC-AEBED2B1155B}"/>
              </a:ext>
            </a:extLst>
          </p:cNvPr>
          <p:cNvCxnSpPr>
            <a:cxnSpLocks/>
          </p:cNvCxnSpPr>
          <p:nvPr userDrawn="1"/>
        </p:nvCxnSpPr>
        <p:spPr>
          <a:xfrm>
            <a:off x="4484077" y="5144978"/>
            <a:ext cx="0" cy="807405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FA9B6CF-713A-4942-BE35-A61AFCDDFD3D}"/>
              </a:ext>
            </a:extLst>
          </p:cNvPr>
          <p:cNvCxnSpPr>
            <a:cxnSpLocks/>
          </p:cNvCxnSpPr>
          <p:nvPr userDrawn="1"/>
        </p:nvCxnSpPr>
        <p:spPr>
          <a:xfrm>
            <a:off x="7757747" y="5144978"/>
            <a:ext cx="0" cy="807405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93809A32-C7A4-4739-994B-BE492F855AC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90908" y="1617663"/>
            <a:ext cx="9618391" cy="1336675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C1ABD52-D5FE-4FC2-8449-5DA0E5285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42703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6069" y="6332578"/>
            <a:ext cx="4315852" cy="320123"/>
          </a:xfrm>
        </p:spPr>
        <p:txBody>
          <a:bodyPr/>
          <a:lstStyle>
            <a:lvl1pPr algn="r">
              <a:defRPr/>
            </a:lvl1pPr>
          </a:lstStyle>
          <a:p>
            <a:fld id="{2D202488-4139-4052-B998-251C9C912739}" type="datetimeFigureOut">
              <a:rPr lang="en-US" noProof="0" smtClean="0"/>
              <a:pPr/>
              <a:t>2/2/2026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6332578"/>
            <a:ext cx="5541004" cy="320931"/>
          </a:xfrm>
        </p:spPr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1589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microsoft.com/office/2007/relationships/hdphoto" Target="../media/hdphoto1.wdp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13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 cstate="screen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b="-1562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4363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4363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96923" y="6340793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2D202488-4139-4052-B998-251C9C912739}" type="datetimeFigureOut">
              <a:rPr lang="en-US" noProof="0" smtClean="0"/>
              <a:pPr/>
              <a:t>2/2/2026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4364" y="6339730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Add Footer Here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7587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7" r:id="rId7"/>
    <p:sldLayoutId id="2147483691" r:id="rId8"/>
    <p:sldLayoutId id="2147483692" r:id="rId9"/>
    <p:sldLayoutId id="2147483696" r:id="rId10"/>
    <p:sldLayoutId id="214748369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CA56C-7A25-4BD4-AA72-5256E68BE4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9778" y="948267"/>
            <a:ext cx="9166578" cy="2395462"/>
          </a:xfrm>
        </p:spPr>
        <p:txBody>
          <a:bodyPr/>
          <a:lstStyle/>
          <a:p>
            <a:r>
              <a:rPr lang="en-US" dirty="0"/>
              <a:t>Auto-Ticket Vending machine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BCF363-1123-45B1-8A9A-ABCDA40EF3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9778" y="3612445"/>
            <a:ext cx="8495426" cy="1003258"/>
          </a:xfrm>
        </p:spPr>
        <p:txBody>
          <a:bodyPr/>
          <a:lstStyle/>
          <a:p>
            <a:r>
              <a:rPr lang="en-US" dirty="0"/>
              <a:t>BY Ritesh Chaudhary </a:t>
            </a:r>
          </a:p>
          <a:p>
            <a:r>
              <a:rPr lang="en-US" dirty="0"/>
              <a:t>		&amp;    </a:t>
            </a:r>
            <a:r>
              <a:rPr lang="en-US" dirty="0" err="1"/>
              <a:t>priyanshu</a:t>
            </a:r>
            <a:r>
              <a:rPr lang="en-US" dirty="0"/>
              <a:t> </a:t>
            </a:r>
            <a:r>
              <a:rPr lang="en-US" dirty="0" err="1"/>
              <a:t>jha</a:t>
            </a:r>
            <a:endParaRPr lang="en-US" dirty="0"/>
          </a:p>
        </p:txBody>
      </p:sp>
      <p:pic>
        <p:nvPicPr>
          <p:cNvPr id="5" name="Graphic 4" descr="Brain in head icon&#10;">
            <a:extLst>
              <a:ext uri="{FF2B5EF4-FFF2-40B4-BE49-F238E27FC236}">
                <a16:creationId xmlns:a16="http://schemas.microsoft.com/office/drawing/2014/main" id="{D011E263-3212-4780-A140-E652B108BD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69648" y="1989000"/>
            <a:ext cx="1440000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2943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9CD3E-5E33-4EB5-A2CE-C636605E6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2" y="804518"/>
            <a:ext cx="9603275" cy="1049235"/>
          </a:xfrm>
        </p:spPr>
        <p:txBody>
          <a:bodyPr/>
          <a:lstStyle/>
          <a:p>
            <a:r>
              <a:rPr lang="en-US" dirty="0"/>
              <a:t>Auto-Ticket Vending machine</a:t>
            </a:r>
          </a:p>
        </p:txBody>
      </p:sp>
      <p:pic>
        <p:nvPicPr>
          <p:cNvPr id="4" name="Graphic 3" descr="Lightbulb icon">
            <a:extLst>
              <a:ext uri="{FF2B5EF4-FFF2-40B4-BE49-F238E27FC236}">
                <a16:creationId xmlns:a16="http://schemas.microsoft.com/office/drawing/2014/main" id="{5E124F8C-3984-4EEC-9BA8-3B255731F2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28262" y="206686"/>
            <a:ext cx="1122450" cy="112245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0199F-A274-44C6-BF37-784A855E6E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5117" y="1602093"/>
            <a:ext cx="8733900" cy="3997196"/>
          </a:xfrm>
        </p:spPr>
        <p:txBody>
          <a:bodyPr>
            <a:normAutofit/>
          </a:bodyPr>
          <a:lstStyle/>
          <a:p>
            <a:pPr lvl="2"/>
            <a:r>
              <a:rPr lang="en-US" sz="3000" b="1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Design Problems</a:t>
            </a:r>
            <a:endParaRPr lang="en-US" sz="2200" b="1" dirty="0"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3"/>
            <a:r>
              <a:rPr lang="en-US" sz="2200" dirty="0"/>
              <a:t>Complex interface, confusing for first-time users</a:t>
            </a:r>
          </a:p>
          <a:p>
            <a:pPr lvl="3"/>
            <a:r>
              <a:rPr lang="en-US" sz="2200" dirty="0"/>
              <a:t>Not friendly for elderly and disabled people</a:t>
            </a:r>
          </a:p>
          <a:p>
            <a:pPr lvl="3"/>
            <a:r>
              <a:rPr lang="en-IN" sz="2200" dirty="0"/>
              <a:t>Limited language options</a:t>
            </a:r>
          </a:p>
          <a:p>
            <a:pPr lvl="3"/>
            <a:r>
              <a:rPr lang="en-US" sz="2200" dirty="0"/>
              <a:t>Screen visibility issues in sunlight</a:t>
            </a:r>
          </a:p>
          <a:p>
            <a:pPr lvl="3"/>
            <a:r>
              <a:rPr lang="en-IN" sz="2200" dirty="0"/>
              <a:t>Touchscreen hygiene concerns</a:t>
            </a:r>
          </a:p>
          <a:p>
            <a:pPr lvl="3"/>
            <a:r>
              <a:rPr lang="en-US" sz="2200" dirty="0"/>
              <a:t>No user assistance during errors</a:t>
            </a:r>
          </a:p>
          <a:p>
            <a:pPr lvl="3"/>
            <a:r>
              <a:rPr lang="en-IN" sz="2200" dirty="0"/>
              <a:t>Technical reliability issues (payment failures, paper jams, etc.)</a:t>
            </a:r>
            <a:endParaRPr lang="en-US" sz="2200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4298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18B9F-C627-3E6E-B93C-6EAED3FF1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3548E-1BFA-886F-F5A6-6B64B9824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2" y="804518"/>
            <a:ext cx="9603275" cy="1049235"/>
          </a:xfrm>
        </p:spPr>
        <p:txBody>
          <a:bodyPr/>
          <a:lstStyle/>
          <a:p>
            <a:r>
              <a:rPr lang="en-US" dirty="0"/>
              <a:t>Auto-Ticket Vending machine</a:t>
            </a:r>
          </a:p>
        </p:txBody>
      </p:sp>
      <p:pic>
        <p:nvPicPr>
          <p:cNvPr id="4" name="Graphic 3" descr="Lightbulb icon">
            <a:extLst>
              <a:ext uri="{FF2B5EF4-FFF2-40B4-BE49-F238E27FC236}">
                <a16:creationId xmlns:a16="http://schemas.microsoft.com/office/drawing/2014/main" id="{D705AAAA-6215-2ED1-B053-BE66921744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8262" y="206686"/>
            <a:ext cx="1122450" cy="112245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9C37EC-A987-3C21-5578-DD32E64B0D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987" y="1616144"/>
            <a:ext cx="9603275" cy="3997196"/>
          </a:xfrm>
        </p:spPr>
        <p:txBody>
          <a:bodyPr>
            <a:normAutofit lnSpcReduction="10000"/>
          </a:bodyPr>
          <a:lstStyle/>
          <a:p>
            <a:pPr lvl="2"/>
            <a:r>
              <a:rPr lang="en-IN" sz="3200" b="1" dirty="0"/>
              <a:t> Suggested Design Improvements</a:t>
            </a:r>
          </a:p>
          <a:p>
            <a:pPr lvl="3"/>
            <a:r>
              <a:rPr lang="en-US" sz="2400" dirty="0"/>
              <a:t>Simplified icon-based interface with fewer steps</a:t>
            </a:r>
          </a:p>
          <a:p>
            <a:pPr lvl="3"/>
            <a:r>
              <a:rPr lang="en-IN" sz="2400" dirty="0"/>
              <a:t>Multilanguage support</a:t>
            </a:r>
          </a:p>
          <a:p>
            <a:pPr lvl="3"/>
            <a:r>
              <a:rPr lang="en-US" sz="2400" dirty="0"/>
              <a:t>Voice-guided instructions and audio feedback</a:t>
            </a:r>
          </a:p>
          <a:p>
            <a:pPr lvl="3"/>
            <a:r>
              <a:rPr lang="en-US" sz="2400" dirty="0"/>
              <a:t>Adjustable screen height for wheelchair accessibility</a:t>
            </a:r>
          </a:p>
          <a:p>
            <a:pPr lvl="3"/>
            <a:r>
              <a:rPr lang="en-US" altLang="en-US" sz="2400" dirty="0">
                <a:latin typeface="Arial" panose="020B0604020202020204" pitchFamily="34" charset="0"/>
              </a:rPr>
              <a:t>High-contrast display</a:t>
            </a:r>
          </a:p>
          <a:p>
            <a:pPr lvl="3"/>
            <a:r>
              <a:rPr lang="en-US" sz="2400" dirty="0"/>
              <a:t>Contactless Interaction</a:t>
            </a:r>
          </a:p>
          <a:p>
            <a:pPr lvl="3"/>
            <a:r>
              <a:rPr lang="en-US" sz="2400" dirty="0"/>
              <a:t>Using antimicrobial screen coating</a:t>
            </a:r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0254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9E978-9605-417C-951F-53F4926CF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909" y="798974"/>
            <a:ext cx="9610182" cy="601226"/>
          </a:xfrm>
        </p:spPr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Invention design process</a:t>
            </a:r>
          </a:p>
        </p:txBody>
      </p:sp>
      <p:pic>
        <p:nvPicPr>
          <p:cNvPr id="7" name="Graphic 6" descr="Gears icon">
            <a:extLst>
              <a:ext uri="{FF2B5EF4-FFF2-40B4-BE49-F238E27FC236}">
                <a16:creationId xmlns:a16="http://schemas.microsoft.com/office/drawing/2014/main" id="{DA9595F8-50AF-4C85-9BC5-B52646E113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16904" y="243287"/>
            <a:ext cx="1122450" cy="112245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86B87E-83DC-455A-94FE-3896589031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90909" y="1645522"/>
            <a:ext cx="9886172" cy="3836725"/>
          </a:xfrm>
        </p:spPr>
        <p:txBody>
          <a:bodyPr>
            <a:normAutofit fontScale="92500" lnSpcReduction="10000"/>
          </a:bodyPr>
          <a:lstStyle/>
          <a:p>
            <a:endParaRPr lang="en-US" dirty="0"/>
          </a:p>
          <a:p>
            <a:pPr marL="342900" indent="-342900"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Identify a real-life problem</a:t>
            </a:r>
          </a:p>
          <a:p>
            <a:pPr marL="342900" indent="-342900"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Research existing solutions and technologies</a:t>
            </a:r>
          </a:p>
          <a:p>
            <a:pPr marL="342900" indent="-342900"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Generate multiple ideas and select the best one</a:t>
            </a:r>
          </a:p>
          <a:p>
            <a:pPr marL="342900" indent="-342900"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Design and develop a prototype</a:t>
            </a:r>
          </a:p>
          <a:p>
            <a:pPr marL="342900" indent="-342900"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Test the prototype and identify improvements</a:t>
            </a:r>
          </a:p>
          <a:p>
            <a:pPr marL="342900" indent="-342900"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Finalize and implement the invention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024C14A-E496-4FF0-8939-7E31F6B95C48}"/>
              </a:ext>
            </a:extLst>
          </p:cNvPr>
          <p:cNvSpPr txBox="1">
            <a:spLocks/>
          </p:cNvSpPr>
          <p:nvPr/>
        </p:nvSpPr>
        <p:spPr>
          <a:xfrm>
            <a:off x="5048983" y="5510822"/>
            <a:ext cx="5901227" cy="778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600"/>
              </a:spcBef>
            </a:pPr>
            <a:endParaRPr lang="en-US" sz="1400" dirty="0"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4098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9CD3E-5E33-4EB5-A2CE-C636605E6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3" y="804519"/>
            <a:ext cx="9603275" cy="1049235"/>
          </a:xfrm>
        </p:spPr>
        <p:txBody>
          <a:bodyPr/>
          <a:lstStyle/>
          <a:p>
            <a:r>
              <a:rPr lang="en-US" b="1" dirty="0"/>
              <a:t>Who will use my invention ?</a:t>
            </a:r>
          </a:p>
        </p:txBody>
      </p:sp>
      <p:pic>
        <p:nvPicPr>
          <p:cNvPr id="5" name="Graphic 4" descr="Man and Woman icon">
            <a:extLst>
              <a:ext uri="{FF2B5EF4-FFF2-40B4-BE49-F238E27FC236}">
                <a16:creationId xmlns:a16="http://schemas.microsoft.com/office/drawing/2014/main" id="{2DED0F48-76A7-437D-9746-E2DF97A1CB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53742" y="216211"/>
            <a:ext cx="1122450" cy="112245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0199F-A274-44C6-BF37-784A855E6E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362" y="1749637"/>
            <a:ext cx="5546704" cy="4076218"/>
          </a:xfrm>
        </p:spPr>
        <p:txBody>
          <a:bodyPr>
            <a:normAutofit/>
          </a:bodyPr>
          <a:lstStyle/>
          <a:p>
            <a:r>
              <a:rPr lang="en-US" sz="2800" b="1" i="1" dirty="0"/>
              <a:t>My invention will be used by:</a:t>
            </a:r>
          </a:p>
          <a:p>
            <a:pPr lvl="1"/>
            <a:r>
              <a:rPr lang="en-US" sz="2000" dirty="0"/>
              <a:t>Daily commuters and regular passengers</a:t>
            </a:r>
          </a:p>
          <a:p>
            <a:pPr lvl="1"/>
            <a:r>
              <a:rPr lang="en-US" sz="2000" dirty="0"/>
              <a:t>Occasional travelers and tourists</a:t>
            </a:r>
          </a:p>
          <a:p>
            <a:pPr lvl="1"/>
            <a:r>
              <a:rPr lang="en-US" sz="2000" dirty="0"/>
              <a:t>Elderly people and differently-abled users</a:t>
            </a:r>
          </a:p>
          <a:p>
            <a:pPr lvl="1"/>
            <a:r>
              <a:rPr lang="en-US" sz="2000" dirty="0"/>
              <a:t>Students and office-goers</a:t>
            </a:r>
          </a:p>
          <a:p>
            <a:pPr lvl="1"/>
            <a:r>
              <a:rPr lang="en-US" sz="2000" dirty="0"/>
              <a:t>Railway staff (indirectly, for workload reduction)</a:t>
            </a:r>
          </a:p>
          <a:p>
            <a:pPr lvl="0"/>
            <a:endParaRPr lang="en-US" dirty="0"/>
          </a:p>
        </p:txBody>
      </p:sp>
      <p:pic>
        <p:nvPicPr>
          <p:cNvPr id="8" name="Picture 2" descr="Close-up display at self-service transfer machine, doing self-check-in for flight or buying airplane tickets at airport photo">
            <a:extLst>
              <a:ext uri="{FF2B5EF4-FFF2-40B4-BE49-F238E27FC236}">
                <a16:creationId xmlns:a16="http://schemas.microsoft.com/office/drawing/2014/main" id="{A13D16B5-F89A-C81E-3CD9-A29622DD74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3364" y="1749637"/>
            <a:ext cx="4434273" cy="3358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9431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430CD-6B29-21CA-82AA-EB2B5233E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16FA6-8E82-B0F7-E10C-47999F190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2815" y="568693"/>
            <a:ext cx="9610182" cy="900184"/>
          </a:xfrm>
        </p:spPr>
        <p:txBody>
          <a:bodyPr>
            <a:normAutofit fontScale="90000"/>
          </a:bodyPr>
          <a:lstStyle/>
          <a:p>
            <a:r>
              <a:rPr lang="en-US" i="1" dirty="0"/>
              <a:t>“This vending machine already exists in the market, so what is new?”</a:t>
            </a:r>
            <a:br>
              <a:rPr lang="en-US" dirty="0"/>
            </a:br>
            <a:endParaRPr lang="en-US" b="1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7" name="Graphic 6" descr="Gears icon">
            <a:extLst>
              <a:ext uri="{FF2B5EF4-FFF2-40B4-BE49-F238E27FC236}">
                <a16:creationId xmlns:a16="http://schemas.microsoft.com/office/drawing/2014/main" id="{BEED429C-60A2-95D8-C668-2D7B933F71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4631" y="346427"/>
            <a:ext cx="1122450" cy="1122450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A3A6CB9-F008-DE3D-AA37-6E3FBD4683AD}"/>
              </a:ext>
            </a:extLst>
          </p:cNvPr>
          <p:cNvSpPr txBox="1">
            <a:spLocks/>
          </p:cNvSpPr>
          <p:nvPr/>
        </p:nvSpPr>
        <p:spPr>
          <a:xfrm>
            <a:off x="5048983" y="5510822"/>
            <a:ext cx="5901227" cy="778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600"/>
              </a:spcBef>
            </a:pPr>
            <a:endParaRPr lang="en-US" sz="1400" dirty="0"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463EC7CF-4047-84F2-1924-8D913992BA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9002" y="1468877"/>
            <a:ext cx="9591207" cy="46115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Ticket vending machines already exist in the market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sz="2000" dirty="0"/>
              <a:t>Current machines are technology-focused, not user-focused</a:t>
            </a:r>
            <a:endParaRPr kumimoji="0" lang="en-US" altLang="en-US" sz="20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Limited language support and poor accessibility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 user-friendly for elderly and disabled users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Hygiene issues due to touch-only interaction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My invention improves usability with: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Simple icon-based interface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Multilingual and voice guidance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Better accessibility and contactless interaction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3137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vortex dir="r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56E988-E8C8-D89E-8B59-BC9AECC832E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27045" y="2211356"/>
            <a:ext cx="11737910" cy="1792565"/>
          </a:xfrm>
        </p:spPr>
        <p:txBody>
          <a:bodyPr>
            <a:normAutofit fontScale="85000" lnSpcReduction="10000"/>
          </a:bodyPr>
          <a:lstStyle/>
          <a:p>
            <a:r>
              <a:rPr lang="en-US" sz="12700" b="1" dirty="0">
                <a:latin typeface="Amasis MT Pro Black" panose="02040A04050005020304" pitchFamily="18" charset="0"/>
              </a:rPr>
              <a:t>THANK YOU !</a:t>
            </a:r>
            <a:endParaRPr lang="en-IN" sz="12700" b="1" dirty="0">
              <a:latin typeface="Amasis MT Pro Black" panose="02040A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4883128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Custom 10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84582C"/>
      </a:accent2>
      <a:accent3>
        <a:srgbClr val="002060"/>
      </a:accent3>
      <a:accent4>
        <a:srgbClr val="586EA6"/>
      </a:accent4>
      <a:accent5>
        <a:srgbClr val="586EA6"/>
      </a:accent5>
      <a:accent6>
        <a:srgbClr val="6892A0"/>
      </a:accent6>
      <a:hlink>
        <a:srgbClr val="B71E42"/>
      </a:hlink>
      <a:folHlink>
        <a:srgbClr val="586EA6"/>
      </a:folHlink>
    </a:clrScheme>
    <a:fontScheme name="Default">
      <a:majorFont>
        <a:latin typeface="Gill Sans MT"/>
        <a:ea typeface=""/>
        <a:cs typeface=""/>
      </a:majorFont>
      <a:minorFont>
        <a:latin typeface="Gill Sans MT"/>
        <a:ea typeface=""/>
        <a:cs typeface="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>
    <a:spDef>
      <a:spPr>
        <a:solidFill>
          <a:srgbClr val="B71E4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>
        <a:ln w="31750"/>
      </a:spPr>
      <a:bodyPr/>
      <a:lstStyle/>
      <a:style>
        <a:lnRef idx="3">
          <a:schemeClr val="accent1"/>
        </a:lnRef>
        <a:fillRef idx="0">
          <a:schemeClr val="accent1"/>
        </a:fillRef>
        <a:effectRef idx="2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f66921596_win32_fixed.potx" id="{F81442EF-054B-43F2-9D42-4AC72B9AFB37}" vid="{A487745B-CFD4-4F4A-9F31-FD463ACA8A6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My invention</Template>
  <TotalTime>149</TotalTime>
  <Words>238</Words>
  <Application>Microsoft Office PowerPoint</Application>
  <PresentationFormat>Widescreen</PresentationFormat>
  <Paragraphs>49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Amasis MT Pro Black</vt:lpstr>
      <vt:lpstr>Arial</vt:lpstr>
      <vt:lpstr>Calibri</vt:lpstr>
      <vt:lpstr>Courier New</vt:lpstr>
      <vt:lpstr>Gill Sans MT</vt:lpstr>
      <vt:lpstr>Tahoma</vt:lpstr>
      <vt:lpstr>Gallery</vt:lpstr>
      <vt:lpstr>Auto-Ticket Vending machine</vt:lpstr>
      <vt:lpstr>Auto-Ticket Vending machine</vt:lpstr>
      <vt:lpstr>Auto-Ticket Vending machine</vt:lpstr>
      <vt:lpstr>Invention design process</vt:lpstr>
      <vt:lpstr>Who will use my invention ?</vt:lpstr>
      <vt:lpstr>“This vending machine already exists in the market, so what is new?”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Ritesh Chaudhary</dc:creator>
  <cp:lastModifiedBy>Ritesh Chaudhary</cp:lastModifiedBy>
  <cp:revision>2</cp:revision>
  <dcterms:created xsi:type="dcterms:W3CDTF">2026-01-27T09:21:38Z</dcterms:created>
  <dcterms:modified xsi:type="dcterms:W3CDTF">2026-02-02T06:31:49Z</dcterms:modified>
</cp:coreProperties>
</file>